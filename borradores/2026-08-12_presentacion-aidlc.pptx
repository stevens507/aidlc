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XhGrzkAbiMrxXDdZ7jgQCNO59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Encuadre en 20 seg: antes del indice quiero que quede claro que es AI-DLC, de donde sale y en que estado esta. Al final van a saber como funciona el metodo, que produce y que le falta, que es donde nosotros aportamos.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Cincuenta anios de metodos, y cada uno nacio porque el anterior dejo de servir. Cascada asumia que se conocian todos los requisitos antes de escribir codigo: Royce lo publico en 1970 copiando el modelo de la manufactura. Agil lo rompio en 2001 con diecisiete firmantes y entregas cortas. DevOps cerro en 2009 la separacion entre quien construye y quien opera. AI-DLC no llega porque agil este mal: llega porque los ciclos se comprimieron tanto que los rituales dejaron de encajar.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se llevan una sola cosa de la charla, que sea esta. AI-DLC no es una herramienta ni un producto: es una forma de organizar el trabajo donde la IA descompone, propone opciones y expone los trade-offs, y la persona valida en puntos definidos. Hoy nosotros abrimos la conversacion con la IA para que nos resuelva una tarea; ahi la abre ella. La analogia que usa el paper es Google Maps: el destino lo pones tu, los pasos los da el sistema, y puedes desviarte cuando quieras. La linea de abajo importa porque AWS descarta los dos extremos: el autocompletar desaprovecha lo que la IA ya hace, y la autonomia total no es auditable, y nosotros vendemos a gobierno y banca.</a:t>
            </a:r>
            <a:endParaRPr/>
          </a:p>
        </p:txBody>
      </p:sp>
      <p:sp>
        <p:nvSpPr>
          <p:cNvPr id="137" name="Google Shape;13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es el mapa. El paper organiza el metodo en tres partes y en ese orden: primero que cosas maneja, despues como se ordena el trabajo y quien lo hace, y al final los pasos concretos. Los proximos tres slides son exactamente esas tres partes. Si en algun momento se pierden, es este slide el que dice donde estamos.</a:t>
            </a:r>
            <a:endParaRPr/>
          </a:p>
        </p:txBody>
      </p:sp>
      <p:sp>
        <p:nvSpPr>
          <p:cNvPr id="168" name="Google Shape;1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Seis artefactos en dos familias, y esa division es la que evita confundirlos. Arriba, los que organizan el trabajo: el Intent es lo que queremos y sale de negocio; los Units son las piezas en que se parte, debilmente acopladas, y por eso varios equipos pueden ir en paralelo sin pisarse; el Bolt es tiempo. Un Unit es un que, un Bolt es un cuanto tiempo, y un Unit puede necesitar varios Bolts. Abajo, lo que sale de construir: el Domain Design es logica pura sin tecnologia, y los requisitos no funcionales son los que provocan el salto al Logical Design. Consultar normativa se resuelve con una tabla y una busqueda; si ademas tiene que responder en tres segundos sobre miles de documentos y dejar rastro auditable, ya aparecen cache, limites de tasa y registro estructurado.</a:t>
            </a:r>
            <a:endParaRPr/>
          </a:p>
        </p:txBody>
      </p:sp>
      <p:sp>
        <p:nvSpPr>
          <p:cNvPr id="206" name="Google Shape;20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ritual es una sesion de trabajo colectiva: todo el equipo en la misma conversacion, con un facilitador, y la IA participando como una mas. Mob quiere decir eso. Son deliberadamente colectivos porque la elaboracion de requisitos que tomaba semanas se resuelve en horas cuando todos estan presentes a la vez. Fijense en la linea de quienes: el Product Owner participa al principio, se retira durante el trabajo tecnico y vuelve para validar lo que se entrega. El metodo define cuando el negocio tiene voz. Y Operations no tiene ritual, que es coherente con lo que veremos despues: es la fase menos desarrollada. Un detalle: el paper llama al segundo Mob Construction en una figura y Mob Programming en otra. Si lo adoptamos, hay que elegir uno.</a:t>
            </a:r>
            <a:endParaRPr/>
          </a:p>
        </p:txBody>
      </p:sp>
      <p:sp>
        <p:nvSpPr>
          <p:cNvPr id="253" name="Google Shape;25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es la figura tal cual del paper. Nueve pasos repartidos en las tres fases. El paso 1 es el que marcaste como importantisimo: antes de escribir nada hay que saber que existe ya. Y la frase de la derecha es el mecanismo del metodo entero: si la etapa de requisitos queda floja, el modelo de dominio hereda el hueco y el codigo lo amplifica. Al cerrar cada paso el equipo tiene dos salidas: pedir cambios, o aprobar y continuar.</a:t>
            </a:r>
            <a:endParaRPr/>
          </a:p>
        </p:txBody>
      </p:sp>
      <p:sp>
        <p:nvSpPr>
          <p:cNvPr id="290" name="Google Shape;29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paper le dedica una seccion entera y es la que mas nos toca. Antes de modificar un sistema vivo, la IA reconstruye esos dos modelos leyendo el codigo; el equipo los revisa y corrige, y recien entonces sigue el recorrido normal. La razon es que el contexto que recibe la IA sea conciso y correcto en vez de miles de lineas sin ordenar. Inception y Operations son identicas en los dos casos: lo unico que cambia es ese paso previo dentro de Construction.</a:t>
            </a:r>
            <a:endParaRPr/>
          </a:p>
        </p:txBody>
      </p:sp>
      <p:sp>
        <p:nvSpPr>
          <p:cNvPr id="308" name="Google Shape;3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junto y en la figura original. A la izquierda quienes participan y con que ritual; en el centro las fases, con el Intent arriba abriendose en Units; y a la derecha lo que produce cada fase. Fijense en las columnas azules verticales: son los Bolts, y se ve que la primera Unit necesito dos mientras las otras van con uno. Esta es la imagen que vamos a poner al lado de nuestro diagrama actual para ver donde encajan diseno, construccion, revision y publicacion, que es la conversacion que quedo abierta la vez pasada.</a:t>
            </a:r>
            <a:endParaRPr/>
          </a:p>
        </p:txBody>
      </p:sp>
      <p:sp>
        <p:nvSpPr>
          <p:cNvPr id="347" name="Google Shape;34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20040" y="0"/>
            <a:ext cx="82296" cy="685800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731520"/>
            <a:ext cx="1244773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22960" y="2286000"/>
            <a:ext cx="104241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AI-DLC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Metodología de </a:t>
            </a:r>
            <a:r>
              <a:rPr lang="en-US" sz="1900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Grupo TX </a:t>
            </a:r>
            <a:endParaRPr sz="1900">
              <a:solidFill>
                <a:srgbClr val="2E86C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para desarrollo con IA generativa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68680" y="4297680"/>
            <a:ext cx="1097280" cy="128016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965960" y="4297680"/>
            <a:ext cx="1097280" cy="12801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063240" y="4297680"/>
            <a:ext cx="1097280" cy="128016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160520" y="4297680"/>
            <a:ext cx="1097280" cy="12801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5257800" y="4297680"/>
            <a:ext cx="1097280" cy="128016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695055" y="813816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Elaborado por: Equipo de IA Generativa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12 de agosto de 2026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Contexto previo a la propuesta de metodología</a:t>
            </a:r>
            <a:endParaRPr/>
          </a:p>
        </p:txBody>
      </p:sp>
      <p:pic>
        <p:nvPicPr>
          <p:cNvPr descr="AI-Driven Development Life Cycle: Reimagining Software Engineering | AWS  DevOps &amp; Developer Productivity Blog"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7670" y="1382077"/>
            <a:ext cx="3562350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301625" y="10265029"/>
            <a:ext cx="105237" cy="7235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539616" y="914400"/>
            <a:ext cx="110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De cascada a AI-DLC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Cada salto respondió a una limitación del anterior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234439" y="3712464"/>
            <a:ext cx="9601200" cy="41148"/>
          </a:xfrm>
          <a:prstGeom prst="rect">
            <a:avLst/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502920" y="27889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1970</a:t>
            </a: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932688" y="3621024"/>
            <a:ext cx="237744" cy="237744"/>
          </a:xfrm>
          <a:prstGeom prst="ellipse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0" y="4251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Cascada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-91440" y="4681728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Etapas cerradas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en secuencia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3703320" y="27889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2001</a:t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133088" y="3621024"/>
            <a:ext cx="237744" cy="237744"/>
          </a:xfrm>
          <a:prstGeom prst="ellipse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200400" y="4251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Ágil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3108960" y="4681728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Entregas frecuentes,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requisitos cambiantes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903720" y="27889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2009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7333488" y="3621024"/>
            <a:ext cx="237744" cy="237744"/>
          </a:xfrm>
          <a:prstGeom prst="ellipse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400800" y="4251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DevOps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6309360" y="4681728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Construir y operar,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juntos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0104120" y="27889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7AC143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10469880" y="3557016"/>
            <a:ext cx="365760" cy="365760"/>
          </a:xfrm>
          <a:prstGeom prst="ellipse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9601200" y="42519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AI-DLC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9509760" y="4681728"/>
            <a:ext cx="2286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La IA dirige,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el equipo valida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pic>
        <p:nvPicPr>
          <p:cNvPr descr="Qué es la metodología en cascada: Todo lo que necesitas saber | IPM" id="130" name="Google Shape;1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327904"/>
            <a:ext cx="1929415" cy="1085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é es la metodología Agile y por qué está de moda? | Progressa Lean" id="131" name="Google Shape;13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78428" y="5205095"/>
            <a:ext cx="1232911" cy="12277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vOps: Unlocking the Benefits of Continuous Delivery | WWG" id="132" name="Google Shape;13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034" y="5395064"/>
            <a:ext cx="1676651" cy="950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I-Driven Development Life Cycle: Reimagining Software Engineering | AWS  DevOps &amp; Developer Productivity Blog" id="133" name="Google Shape;13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57614" y="5157677"/>
            <a:ext cx="1512615" cy="143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145" name="Google Shape;1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La IA propone, el equipo decide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AI-DLC — una metodología para construir software con IA generativa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685800" y="26060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ANTES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2286000" y="2660904"/>
            <a:ext cx="20116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2286000" y="26609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persona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4526280" y="2761488"/>
            <a:ext cx="2103120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359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858000" y="2660904"/>
            <a:ext cx="20116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6858000" y="266090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2286000" y="3209544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«hazme esto»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685800" y="40690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AHORA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2286000" y="4123944"/>
            <a:ext cx="20116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2286000" y="412394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IA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4526280" y="4224528"/>
            <a:ext cx="210312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858000" y="4123944"/>
            <a:ext cx="2011680" cy="4572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6858000" y="4123944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persona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2286000" y="4672584"/>
            <a:ext cx="6583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«propongo esto, ¿lo apruebas?»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Ni autocompletar código, ni dejar que la IA construya sola.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El método tiene tres partes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Así lo organiza el propio paper de AWS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548640" y="2514600"/>
            <a:ext cx="3383280" cy="23317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48640" y="2514600"/>
            <a:ext cx="338328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1984248" y="2761488"/>
            <a:ext cx="512064" cy="512064"/>
          </a:xfrm>
          <a:prstGeom prst="ellipse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1984248" y="27614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548640" y="34290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ARTEFACTOS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822959" y="391363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Qué maneja y qué produce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822959" y="449884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seis, en dos familias</a:t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4398264" y="2514600"/>
            <a:ext cx="3383280" cy="23317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398264" y="2514600"/>
            <a:ext cx="338328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5833872" y="2761488"/>
            <a:ext cx="512064" cy="512064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5833872" y="27614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4398264" y="34290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FASES Y RITUALES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4672583" y="391363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Cómo se ordena el trabajo</a:t>
            </a:r>
            <a:endParaRPr/>
          </a:p>
          <a:p>
            <a:pPr indent="0" lvl="0" marL="0" marR="0" rtl="0" algn="ctr"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y cómo trabaja el equipo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4672583" y="449884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tres fases, tres rituales</a:t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8247888" y="2514600"/>
            <a:ext cx="3383280" cy="23317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8247888" y="2514600"/>
            <a:ext cx="338328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9683496" y="2761488"/>
            <a:ext cx="512064" cy="512064"/>
          </a:xfrm>
          <a:prstGeom prst="ellipse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9683496" y="27614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8247888" y="34290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FC6E0"/>
                </a:solidFill>
                <a:latin typeface="Poppins"/>
                <a:ea typeface="Poppins"/>
                <a:cs typeface="Poppins"/>
                <a:sym typeface="Poppins"/>
              </a:rPr>
              <a:t>EL FLUJO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522208" y="3913632"/>
            <a:ext cx="28346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Los pasos concretos</a:t>
            </a:r>
            <a:endParaRPr/>
          </a:p>
        </p:txBody>
      </p:sp>
      <p:sp>
        <p:nvSpPr>
          <p:cNvPr id="199" name="Google Shape;199;p4"/>
          <p:cNvSpPr txBox="1"/>
          <p:nvPr/>
        </p:nvSpPr>
        <p:spPr>
          <a:xfrm>
            <a:off x="8522208" y="449884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nueve, en un plan que se valida</a:t>
            </a:r>
            <a:endParaRPr/>
          </a:p>
        </p:txBody>
      </p:sp>
      <p:sp>
        <p:nvSpPr>
          <p:cNvPr id="200" name="Google Shape;200;p4"/>
          <p:cNvSpPr txBox="1"/>
          <p:nvPr/>
        </p:nvSpPr>
        <p:spPr>
          <a:xfrm>
            <a:off x="548640" y="51389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Las tres, una por una, en los slides que siguen.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202" name="Google Shape;202;p4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214" name="Google Shape;2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5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Los seis artefactos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Parte 1 — qué maneja el método y qué produce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548640" y="224028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CÓMO SE ORGANIZA EL TRABAJO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658368" y="260604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58368" y="2606040"/>
            <a:ext cx="3246120" cy="82296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58368" y="27706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INTENT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859536" y="315468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Lo que se quiere lograr</a:t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4032503" y="3099816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4471416" y="260604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4471416" y="2606040"/>
            <a:ext cx="3246120" cy="82296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4471416" y="27706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UNIT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4672583" y="315468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La parte que se construye y despliega por separado</a:t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845552" y="3099816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8284463" y="260604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8284463" y="2606040"/>
            <a:ext cx="3246120" cy="82296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8284463" y="277063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BOLT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8485632" y="315468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El ciclo en que se construye: horas o días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548640" y="4160520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QUÉ PRODUCE LA CONSTRUCCIÓN</a:t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658368" y="452628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658368" y="4526280"/>
            <a:ext cx="3246120" cy="8229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658368" y="46908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DOMAIN DESIGN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859536" y="507492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La lógica de negocio, sin decidir tecnología</a:t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4032503" y="5020056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4471416" y="452628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471416" y="4526280"/>
            <a:ext cx="3246120" cy="8229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4471416" y="46908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LOGICAL DESIGN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4672583" y="507492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La misma lógica, con los requisitos no funcionales</a:t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7845552" y="5020056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284463" y="4526280"/>
            <a:ext cx="3246120" cy="117043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8284463" y="4526280"/>
            <a:ext cx="3246120" cy="8229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8284463" y="4690872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DEPLOYMENT UNITS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8485632" y="5074920"/>
            <a:ext cx="284378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Empaquetado, probado y listo para desplegar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Requisito no funcional — qué tan bien hace el sistema lo que hace: cuánto tarda, cuánto aguanta, qué registra, qué protege.</a:t>
            </a:r>
            <a:endParaRPr/>
          </a:p>
        </p:txBody>
      </p:sp>
      <p:sp>
        <p:nvSpPr>
          <p:cNvPr id="248" name="Google Shape;248;p5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249" name="Google Shape;249;p5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261" name="Google Shape;2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Las tres fases y sus rituales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Parte 2 — cómo se ordena el trabajo y cómo trabaja el equipo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548640" y="2286000"/>
            <a:ext cx="11064240" cy="11887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48640" y="2286000"/>
            <a:ext cx="118872" cy="11887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841248" y="2377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INCEPTION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3291840" y="240487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Qué construir y por qué</a:t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6309360" y="240487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Mob Elaboration</a:t>
            </a:r>
            <a:endParaRPr/>
          </a:p>
        </p:txBody>
      </p:sp>
      <p:sp>
        <p:nvSpPr>
          <p:cNvPr id="269" name="Google Shape;269;p6"/>
          <p:cNvSpPr txBox="1"/>
          <p:nvPr/>
        </p:nvSpPr>
        <p:spPr>
          <a:xfrm>
            <a:off x="841248" y="276148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quiénes  </a:t>
            </a:r>
            <a:r>
              <a:rPr b="0" i="0" lang="en-US" sz="11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Product Owner · desarrolladores · IA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841248" y="3054096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qué pasa  </a:t>
            </a: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La IA propone historias, criterios de aceptación y Units. El equipo corrige lo sobre-diseñado y lo sub-diseñado</a:t>
            </a:r>
            <a:endParaRPr/>
          </a:p>
        </p:txBody>
      </p:sp>
      <p:sp>
        <p:nvSpPr>
          <p:cNvPr id="271" name="Google Shape;271;p6"/>
          <p:cNvSpPr/>
          <p:nvPr/>
        </p:nvSpPr>
        <p:spPr>
          <a:xfrm>
            <a:off x="548640" y="3611880"/>
            <a:ext cx="11064240" cy="11887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548640" y="3611880"/>
            <a:ext cx="118872" cy="1188720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841248" y="37033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7AC143"/>
                </a:solidFill>
                <a:latin typeface="Poppins"/>
                <a:ea typeface="Poppins"/>
                <a:cs typeface="Poppins"/>
                <a:sym typeface="Poppins"/>
              </a:rPr>
              <a:t>CONSTRUCTION</a:t>
            </a:r>
            <a:endParaRPr/>
          </a:p>
        </p:txBody>
      </p:sp>
      <p:sp>
        <p:nvSpPr>
          <p:cNvPr id="274" name="Google Shape;274;p6"/>
          <p:cNvSpPr txBox="1"/>
          <p:nvPr/>
        </p:nvSpPr>
        <p:spPr>
          <a:xfrm>
            <a:off x="3291840" y="373075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Cómo construirlo</a:t>
            </a:r>
            <a:endParaRPr/>
          </a:p>
        </p:txBody>
      </p:sp>
      <p:sp>
        <p:nvSpPr>
          <p:cNvPr id="275" name="Google Shape;275;p6"/>
          <p:cNvSpPr txBox="1"/>
          <p:nvPr/>
        </p:nvSpPr>
        <p:spPr>
          <a:xfrm>
            <a:off x="6309360" y="373075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Mob Construction · Mob Testing</a:t>
            </a:r>
            <a:endParaRPr/>
          </a:p>
        </p:txBody>
      </p:sp>
      <p:sp>
        <p:nvSpPr>
          <p:cNvPr id="276" name="Google Shape;276;p6"/>
          <p:cNvSpPr txBox="1"/>
          <p:nvPr/>
        </p:nvSpPr>
        <p:spPr>
          <a:xfrm>
            <a:off x="841248" y="408736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AC143"/>
                </a:solidFill>
                <a:latin typeface="Poppins"/>
                <a:ea typeface="Poppins"/>
                <a:cs typeface="Poppins"/>
                <a:sym typeface="Poppins"/>
              </a:rPr>
              <a:t>quiénes  </a:t>
            </a:r>
            <a:r>
              <a:rPr b="0" i="0" lang="en-US" sz="11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Desarrolladores e IA; el Product Owner vuelve para las pruebas</a:t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841248" y="4379976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7AC143"/>
                </a:solidFill>
                <a:latin typeface="Poppins"/>
                <a:ea typeface="Poppins"/>
                <a:cs typeface="Poppins"/>
                <a:sym typeface="Poppins"/>
              </a:rPr>
              <a:t>qué pasa  </a:t>
            </a: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Se intercambian las especificaciones de integración, se deciden los patrones y se entregan los Bolts</a:t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548650" y="4937748"/>
            <a:ext cx="11064300" cy="11340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548640" y="4937760"/>
            <a:ext cx="118872" cy="96012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 txBox="1"/>
          <p:nvPr/>
        </p:nvSpPr>
        <p:spPr>
          <a:xfrm>
            <a:off x="841248" y="50292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2C230"/>
                </a:solidFill>
                <a:latin typeface="Poppins"/>
                <a:ea typeface="Poppins"/>
                <a:cs typeface="Poppins"/>
                <a:sym typeface="Poppins"/>
              </a:rPr>
              <a:t>OPERATIONS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3291840" y="5056632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Mantenerlo vivo</a:t>
            </a:r>
            <a:endParaRPr/>
          </a:p>
        </p:txBody>
      </p:sp>
      <p:sp>
        <p:nvSpPr>
          <p:cNvPr id="282" name="Google Shape;282;p6"/>
          <p:cNvSpPr txBox="1"/>
          <p:nvPr/>
        </p:nvSpPr>
        <p:spPr>
          <a:xfrm>
            <a:off x="6309360" y="505663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sin ritual definido</a:t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841248" y="5413248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C230"/>
                </a:solidFill>
                <a:latin typeface="Poppins"/>
                <a:ea typeface="Poppins"/>
                <a:cs typeface="Poppins"/>
                <a:sym typeface="Poppins"/>
              </a:rPr>
              <a:t>quiénes  </a:t>
            </a:r>
            <a:r>
              <a:rPr b="0" i="0" lang="en-US" sz="11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Product Owner · desarrolladores · IA</a:t>
            </a:r>
            <a:endParaRPr/>
          </a:p>
        </p:txBody>
      </p:sp>
      <p:sp>
        <p:nvSpPr>
          <p:cNvPr id="284" name="Google Shape;284;p6"/>
          <p:cNvSpPr txBox="1"/>
          <p:nvPr/>
        </p:nvSpPr>
        <p:spPr>
          <a:xfrm>
            <a:off x="841248" y="5705856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2C230"/>
                </a:solidFill>
                <a:latin typeface="Poppins"/>
                <a:ea typeface="Poppins"/>
                <a:cs typeface="Poppins"/>
                <a:sym typeface="Poppins"/>
              </a:rPr>
              <a:t>qué pasa  </a:t>
            </a: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Despliegue, monitoreo e incidentes</a:t>
            </a:r>
            <a:endParaRPr/>
          </a:p>
        </p:txBody>
      </p:sp>
      <p:sp>
        <p:nvSpPr>
          <p:cNvPr id="285" name="Google Shape;285;p6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298" name="Google Shape;2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7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El flujo: los nueve pasos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Parte 3 — el plan que la IA propone y el equipo valida</a:t>
            </a:r>
            <a:endParaRPr/>
          </a:p>
        </p:txBody>
      </p:sp>
      <p:pic>
        <p:nvPicPr>
          <p:cNvPr descr="fig2-plan-nivel-1.png" id="301" name="Google Shape;3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4667" y="2240280"/>
            <a:ext cx="5682361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7"/>
          <p:cNvSpPr txBox="1"/>
          <p:nvPr/>
        </p:nvSpPr>
        <p:spPr>
          <a:xfrm>
            <a:off x="548640" y="582472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Figura del paper de AWS — cada paso construye el contexto del siguiente.</a:t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316" name="Google Shape;3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8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Sistema nuevo o sistema existente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El recorrido cambia según con qué se empieza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35963"/>
                </a:solidFill>
                <a:latin typeface="Poppins"/>
                <a:ea typeface="Poppins"/>
                <a:cs typeface="Poppins"/>
                <a:sym typeface="Poppins"/>
              </a:rPr>
              <a:t>SISTEMA NUEVO</a:t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548640" y="2670048"/>
            <a:ext cx="2377440" cy="5669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 txBox="1"/>
          <p:nvPr/>
        </p:nvSpPr>
        <p:spPr>
          <a:xfrm>
            <a:off x="548640" y="26700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Inception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3054096" y="2852928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3529584" y="2670048"/>
            <a:ext cx="2377440" cy="5669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 txBox="1"/>
          <p:nvPr/>
        </p:nvSpPr>
        <p:spPr>
          <a:xfrm>
            <a:off x="3529584" y="26700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Construction</a:t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6035040" y="2852928"/>
            <a:ext cx="31089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6510528" y="2670048"/>
            <a:ext cx="2377440" cy="5669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6510528" y="267004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Operations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548640" y="3749039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SISTEMA QUE YA EXISTE</a:t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548640" y="4133087"/>
            <a:ext cx="1828800" cy="5669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548640" y="4133087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Inception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2505456" y="4315968"/>
            <a:ext cx="2743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2907792" y="4133087"/>
            <a:ext cx="4572000" cy="1417320"/>
          </a:xfrm>
          <a:prstGeom prst="rect">
            <a:avLst/>
          </a:prstGeom>
          <a:solidFill>
            <a:srgbClr val="F2F3F5"/>
          </a:solidFill>
          <a:ln cap="flat" cmpd="sng" w="12700">
            <a:solidFill>
              <a:srgbClr val="1B2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3054096" y="42245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ELEVAR EL CÓDIGO A UN MODELO</a:t>
            </a:r>
            <a:endParaRPr/>
          </a:p>
        </p:txBody>
      </p:sp>
      <p:sp>
        <p:nvSpPr>
          <p:cNvPr id="334" name="Google Shape;334;p8"/>
          <p:cNvSpPr txBox="1"/>
          <p:nvPr/>
        </p:nvSpPr>
        <p:spPr>
          <a:xfrm>
            <a:off x="3054096" y="4590288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estático</a:t>
            </a: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 — qué componentes hay y cómo se relacionan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B2A5B"/>
                </a:solidFill>
                <a:latin typeface="Open Sans"/>
                <a:ea typeface="Open Sans"/>
                <a:cs typeface="Open Sans"/>
                <a:sym typeface="Open Sans"/>
              </a:rPr>
              <a:t>dinámico</a:t>
            </a:r>
            <a:r>
              <a:rPr b="0" i="0" lang="en-US" sz="11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 — cómo interactúan para resolver un caso de uso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7607808" y="4315968"/>
            <a:ext cx="2743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010144" y="4133087"/>
            <a:ext cx="1828800" cy="5669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8010144" y="4133087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Construction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9966960" y="4315968"/>
            <a:ext cx="27432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8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10369296" y="4133087"/>
            <a:ext cx="1243584" cy="5669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10369296" y="4133087"/>
            <a:ext cx="12435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Operations</a:t>
            </a:r>
            <a:endParaRPr/>
          </a:p>
        </p:txBody>
      </p:sp>
      <p:sp>
        <p:nvSpPr>
          <p:cNvPr id="341" name="Google Shape;341;p8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Casi todo lo que mantenemos ya existe.</a:t>
            </a:r>
            <a:endParaRPr/>
          </a:p>
        </p:txBody>
      </p:sp>
      <p:sp>
        <p:nvSpPr>
          <p:cNvPr id="342" name="Google Shape;342;p8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343" name="Google Shape;343;p8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309360" y="301752"/>
            <a:ext cx="960120" cy="109728"/>
          </a:xfrm>
          <a:prstGeom prst="rect">
            <a:avLst/>
          </a:prstGeom>
          <a:solidFill>
            <a:srgbClr val="1B2A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269480" y="301752"/>
            <a:ext cx="960120" cy="10972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229600" y="301752"/>
            <a:ext cx="960120" cy="109728"/>
          </a:xfrm>
          <a:prstGeom prst="rect">
            <a:avLst/>
          </a:prstGeom>
          <a:solidFill>
            <a:srgbClr val="7FC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9189720" y="301752"/>
            <a:ext cx="960120" cy="109728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10149840" y="301752"/>
            <a:ext cx="960120" cy="109728"/>
          </a:xfrm>
          <a:prstGeom prst="rect">
            <a:avLst/>
          </a:prstGeom>
          <a:solidFill>
            <a:srgbClr val="7AC1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upotx-logo.png" id="355" name="Google Shape;3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6032"/>
            <a:ext cx="663879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9"/>
          <p:cNvSpPr txBox="1"/>
          <p:nvPr/>
        </p:nvSpPr>
        <p:spPr>
          <a:xfrm>
            <a:off x="548640" y="91440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2A5B"/>
                </a:solidFill>
                <a:latin typeface="Poppins"/>
                <a:ea typeface="Poppins"/>
                <a:cs typeface="Poppins"/>
                <a:sym typeface="Poppins"/>
              </a:rPr>
              <a:t>El ciclo completo</a:t>
            </a:r>
            <a:endParaRPr/>
          </a:p>
        </p:txBody>
      </p:sp>
      <p:sp>
        <p:nvSpPr>
          <p:cNvPr id="357" name="Google Shape;357;p9"/>
          <p:cNvSpPr txBox="1"/>
          <p:nvPr/>
        </p:nvSpPr>
        <p:spPr>
          <a:xfrm>
            <a:off x="548640" y="175564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Las tres partes, en una sola figura</a:t>
            </a:r>
            <a:endParaRPr/>
          </a:p>
        </p:txBody>
      </p:sp>
      <p:pic>
        <p:nvPicPr>
          <p:cNvPr descr="fig1-marco-aidlc.png" id="358" name="Google Shape;3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76592" y="2194560"/>
            <a:ext cx="4438510" cy="361188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9"/>
          <p:cNvSpPr txBox="1"/>
          <p:nvPr/>
        </p:nvSpPr>
        <p:spPr>
          <a:xfrm>
            <a:off x="548640" y="5916168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50" u="none" cap="none" strike="noStrike">
                <a:solidFill>
                  <a:srgbClr val="535963"/>
                </a:solidFill>
                <a:latin typeface="Open Sans"/>
                <a:ea typeface="Open Sans"/>
                <a:cs typeface="Open Sans"/>
                <a:sym typeface="Open Sans"/>
              </a:rPr>
              <a:t>Figura del paper de AWS — roles y rituales, fases, y artefactos de cada una.</a:t>
            </a:r>
            <a:endParaRPr/>
          </a:p>
        </p:txBody>
      </p:sp>
      <p:sp>
        <p:nvSpPr>
          <p:cNvPr id="360" name="Google Shape;360;p9"/>
          <p:cNvSpPr txBox="1"/>
          <p:nvPr/>
        </p:nvSpPr>
        <p:spPr>
          <a:xfrm>
            <a:off x="457200" y="6437376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WWW.GRUPOTX.COM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11064240" y="6437376"/>
            <a:ext cx="731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86C1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